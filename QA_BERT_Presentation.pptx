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notesMasterIdLst>
    <p:notesMasterId r:id="rId19"/>
  </p:notesMasterIdLst>
  <p:sldIdLst>
    <p:sldId id="272" r:id="rId2"/>
    <p:sldId id="256" r:id="rId3"/>
    <p:sldId id="257" r:id="rId4"/>
    <p:sldId id="258" r:id="rId5"/>
    <p:sldId id="259" r:id="rId6"/>
    <p:sldId id="266" r:id="rId7"/>
    <p:sldId id="267" r:id="rId8"/>
    <p:sldId id="268" r:id="rId9"/>
    <p:sldId id="269" r:id="rId10"/>
    <p:sldId id="270" r:id="rId11"/>
    <p:sldId id="271" r:id="rId12"/>
    <p:sldId id="260" r:id="rId13"/>
    <p:sldId id="261" r:id="rId14"/>
    <p:sldId id="262" r:id="rId15"/>
    <p:sldId id="263" r:id="rId16"/>
    <p:sldId id="264" r:id="rId17"/>
    <p:sldId id="265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09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ante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ubstituent dată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A548F9-809D-4FEB-8C81-0F7452C01B1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ubstituent imagine diapozitiv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ubstituent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6" name="Substituent subsol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ubstituent număr diapozitiv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041791-3896-42A3-8152-7AD4EA2989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94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425FCE-8881-B6AF-0786-31BA0089435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42D3A3-B2F7-2358-9DBD-ECF9F4A2FFC4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A8D47B-C741-31E9-464B-B44B0FF81DC1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F51B2A-F5A0-2721-1298-F2AF4053D7D7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6843EB-2DA3-777E-8117-BFD0D40D29FF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3E754D-3A70-16D0-7B83-E0A0631532E1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400B6B-C796-6B15-21A8-790EAE78BDF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zitiv titlu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788454"/>
            <a:ext cx="6270922" cy="2098226"/>
          </a:xfrm>
        </p:spPr>
        <p:txBody>
          <a:bodyPr anchor="b">
            <a:noAutofit/>
          </a:bodyPr>
          <a:lstStyle>
            <a:lvl1pPr algn="ct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3956280"/>
            <a:ext cx="5123755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o-RO"/>
              <a:t>Faceți clic pentru a edita stilul de subtitlu coordonator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6453386"/>
            <a:ext cx="1205958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6453386"/>
            <a:ext cx="5267533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564643" y="744469"/>
            <a:ext cx="8005589" cy="5349671"/>
            <a:chOff x="564643" y="744469"/>
            <a:chExt cx="8005589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6113972" y="1685652"/>
              <a:ext cx="2456260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357"/>
                  </a:lnTo>
                  <a:lnTo>
                    <a:pt x="8761" y="935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564643" y="744469"/>
              <a:ext cx="2456505" cy="4408488"/>
            </a:xfrm>
            <a:custGeom>
              <a:avLst/>
              <a:gdLst/>
              <a:ahLst/>
              <a:cxnLst/>
              <a:rect l="l" t="t" r="r" b="b"/>
              <a:pathLst>
                <a:path w="10001" h="10000">
                  <a:moveTo>
                    <a:pt x="8762" y="0"/>
                  </a:moveTo>
                  <a:lnTo>
                    <a:pt x="10001" y="0"/>
                  </a:lnTo>
                  <a:lnTo>
                    <a:pt x="10001" y="10000"/>
                  </a:lnTo>
                  <a:lnTo>
                    <a:pt x="1" y="10000"/>
                  </a:lnTo>
                  <a:cubicBezTo>
                    <a:pt x="-2" y="9766"/>
                    <a:pt x="4" y="9586"/>
                    <a:pt x="1" y="9352"/>
                  </a:cubicBezTo>
                  <a:lnTo>
                    <a:pt x="8762" y="9346"/>
                  </a:lnTo>
                  <a:lnTo>
                    <a:pt x="876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644372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u și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490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ntet secțiun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1301361"/>
            <a:ext cx="7209728" cy="2852737"/>
          </a:xfrm>
        </p:spPr>
        <p:txBody>
          <a:bodyPr anchor="b">
            <a:normAutofit/>
          </a:bodyPr>
          <a:lstStyle>
            <a:lvl1pPr algn="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4216328"/>
            <a:ext cx="7209728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6453386"/>
            <a:ext cx="1216807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6453386"/>
            <a:ext cx="5267533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Freeform 7" title="Crop Mark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7668299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uă tipuri de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2286000"/>
            <a:ext cx="3335840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2286000"/>
            <a:ext cx="3335840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64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ț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340230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3305208"/>
            <a:ext cx="3335839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0" y="2349754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0" y="3305208"/>
            <a:ext cx="3335840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583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oar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918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ecomple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618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ținut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400" baseline="0">
                <a:solidFill>
                  <a:schemeClr val="tx2"/>
                </a:solidFill>
              </a:defRPr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685801"/>
            <a:ext cx="3909060" cy="517525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6344"/>
            <a:ext cx="2891790" cy="3011056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54715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ine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400" baseline="0"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68579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o-RO"/>
              <a:t>Faceți clic pe pictogramă pentru a adăuga o imagine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5968"/>
            <a:ext cx="2891790" cy="3011432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857686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ext vertical și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2295526"/>
            <a:ext cx="7200900" cy="3571875"/>
          </a:xfrm>
        </p:spPr>
        <p:txBody>
          <a:bodyPr vert="eaVert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811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lu vertical ș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80797" y="624156"/>
            <a:ext cx="1490950" cy="5243244"/>
          </a:xfrm>
        </p:spPr>
        <p:txBody>
          <a:bodyPr vert="eaVert"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624156"/>
            <a:ext cx="5724525" cy="5243244"/>
          </a:xfrm>
        </p:spPr>
        <p:txBody>
          <a:bodyPr vert="eaVert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236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286000"/>
            <a:ext cx="72009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6453386"/>
            <a:ext cx="90342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6453386"/>
            <a:ext cx="4710623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6453386"/>
            <a:ext cx="119721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 title="Side bar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092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6858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orient="horz" pos="1368">
          <p15:clr>
            <a:srgbClr val="F26B43"/>
          </p15:clr>
        </p15:guide>
        <p15:guide id="1" pos="6912">
          <p15:clr>
            <a:srgbClr val="F26B43"/>
          </p15:clr>
        </p15:guide>
        <p15:guide id="2" pos="936">
          <p15:clr>
            <a:srgbClr val="F26B43"/>
          </p15:clr>
        </p15:guide>
        <p15:guide id="3" pos="864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696">
          <p15:clr>
            <a:srgbClr val="F26B43"/>
          </p15:clr>
        </p15:guide>
        <p15:guide id="6" orient="horz" pos="432">
          <p15:clr>
            <a:srgbClr val="F26B43"/>
          </p15:clr>
        </p15:guide>
        <p15:guide id="7" orient="horz" pos="1512">
          <p15:clr>
            <a:srgbClr val="F26B43"/>
          </p15:clr>
        </p15:guide>
        <p15:guide id="8" pos="5184">
          <p15:clr>
            <a:srgbClr val="F26B43"/>
          </p15:clr>
        </p15:guide>
        <p15:guide id="9" pos="702">
          <p15:clr>
            <a:srgbClr val="F26B43"/>
          </p15:clr>
        </p15:guide>
        <p15:guide id="10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892300" y="463551"/>
            <a:ext cx="7200900" cy="1485900"/>
          </a:xfrm>
        </p:spPr>
        <p:txBody>
          <a:bodyPr/>
          <a:lstStyle/>
          <a:p>
            <a:pPr>
              <a:defRPr/>
            </a:pPr>
            <a:r>
              <a:rPr dirty="0"/>
              <a:t>QA System with BERT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572924" y="5211689"/>
            <a:ext cx="3264692" cy="1828798"/>
          </a:xfrm>
        </p:spPr>
        <p:txBody>
          <a:bodyPr/>
          <a:lstStyle/>
          <a:p>
            <a:pPr marL="0" indent="0">
              <a:buClr>
                <a:schemeClr val="accent1"/>
              </a:buClr>
              <a:buFont typeface="Wingdings"/>
              <a:buNone/>
              <a:defRPr/>
            </a:pPr>
            <a:r>
              <a:rPr dirty="0"/>
              <a:t>Team:</a:t>
            </a:r>
          </a:p>
          <a:p>
            <a:pPr>
              <a:defRPr/>
            </a:pPr>
            <a:r>
              <a:rPr dirty="0" err="1"/>
              <a:t>Sgaibă</a:t>
            </a:r>
            <a:r>
              <a:rPr dirty="0"/>
              <a:t> Cristian</a:t>
            </a:r>
          </a:p>
          <a:p>
            <a:pPr>
              <a:defRPr/>
            </a:pPr>
            <a:r>
              <a:rPr dirty="0"/>
              <a:t>Popescu Mădălin</a:t>
            </a:r>
          </a:p>
        </p:txBody>
      </p:sp>
      <p:sp>
        <p:nvSpPr>
          <p:cNvPr id="857720726" name="Content Placeholder 2"/>
          <p:cNvSpPr>
            <a:spLocks noGrp="1"/>
          </p:cNvSpPr>
          <p:nvPr/>
        </p:nvSpPr>
        <p:spPr bwMode="auto">
          <a:xfrm>
            <a:off x="2180581" y="1955801"/>
            <a:ext cx="4897137" cy="182879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7500" lnSpcReduction="14000"/>
          </a:bodyPr>
          <a:lstStyle>
            <a:lvl1pPr marL="355599" indent="-355599" algn="l" defTabSz="914400">
              <a:lnSpc>
                <a:spcPct val="100000"/>
              </a:lnSpc>
              <a:spcBef>
                <a:spcPts val="599"/>
              </a:spcBef>
              <a:spcAft>
                <a:spcPts val="0"/>
              </a:spcAft>
              <a:buClr>
                <a:schemeClr val="accent1"/>
              </a:buClr>
              <a:buFont typeface="Wingdings"/>
              <a:buChar char="v"/>
              <a:defRPr sz="2800" b="0" i="0" cap="none" spc="29">
                <a:solidFill>
                  <a:srgbClr val="603636"/>
                </a:solidFill>
                <a:latin typeface="+mn-lt"/>
                <a:ea typeface="+mn-ea"/>
                <a:cs typeface="Arial"/>
              </a:defRPr>
            </a:lvl1pPr>
            <a:lvl2pPr marL="903287" indent="-355599" algn="l" defTabSz="914400">
              <a:lnSpc>
                <a:spcPct val="100000"/>
              </a:lnSpc>
              <a:spcBef>
                <a:spcPts val="1199"/>
              </a:spcBef>
              <a:buClr>
                <a:schemeClr val="accent1"/>
              </a:buClr>
              <a:buFont typeface="Courier New"/>
              <a:buChar char="o"/>
              <a:defRPr sz="2400">
                <a:solidFill>
                  <a:srgbClr val="835A2D"/>
                </a:solidFill>
                <a:latin typeface="+mn-lt"/>
                <a:ea typeface="+mn-ea"/>
                <a:cs typeface="Arial"/>
              </a:defRPr>
            </a:lvl2pPr>
            <a:lvl3pPr marL="1258887" indent="-355599" algn="l" defTabSz="914400">
              <a:lnSpc>
                <a:spcPct val="100000"/>
              </a:lnSpc>
              <a:spcBef>
                <a:spcPts val="1199"/>
              </a:spcBef>
              <a:buClr>
                <a:schemeClr val="accent1"/>
              </a:buClr>
              <a:buFont typeface="Wingdings"/>
              <a:buChar char="v"/>
              <a:defRPr sz="2000">
                <a:solidFill>
                  <a:srgbClr val="603636"/>
                </a:solidFill>
                <a:latin typeface="+mn-lt"/>
                <a:ea typeface="+mn-ea"/>
                <a:cs typeface="Arial"/>
              </a:defRPr>
            </a:lvl3pPr>
            <a:lvl4pPr marL="1614487" indent="-355599" algn="l" defTabSz="914400">
              <a:lnSpc>
                <a:spcPct val="100000"/>
              </a:lnSpc>
              <a:spcBef>
                <a:spcPts val="1199"/>
              </a:spcBef>
              <a:buClr>
                <a:schemeClr val="accent1"/>
              </a:buClr>
              <a:buFont typeface="Courier New"/>
              <a:buChar char="o"/>
              <a:defRPr sz="1800">
                <a:solidFill>
                  <a:srgbClr val="835A2D"/>
                </a:solidFill>
                <a:latin typeface="+mn-lt"/>
                <a:ea typeface="+mn-ea"/>
                <a:cs typeface="Arial"/>
              </a:defRPr>
            </a:lvl4pPr>
            <a:lvl5pPr marL="2149474" indent="-355599" algn="l" defTabSz="914400">
              <a:lnSpc>
                <a:spcPct val="100000"/>
              </a:lnSpc>
              <a:spcBef>
                <a:spcPts val="1199"/>
              </a:spcBef>
              <a:buClr>
                <a:schemeClr val="accent1"/>
              </a:buClr>
              <a:buFont typeface="Wingdings"/>
              <a:buChar char="Ø"/>
              <a:defRPr sz="1800">
                <a:solidFill>
                  <a:srgbClr val="603636"/>
                </a:solidFill>
                <a:latin typeface="+mn-lt"/>
                <a:ea typeface="+mn-ea"/>
                <a:cs typeface="Arial"/>
              </a:defRPr>
            </a:lvl5pPr>
            <a:lvl6pPr marL="0" indent="0" algn="ctr" defTabSz="914400">
              <a:lnSpc>
                <a:spcPct val="100000"/>
              </a:lnSpc>
              <a:spcBef>
                <a:spcPts val="1199"/>
              </a:spcBef>
              <a:buFont typeface="Arial"/>
              <a:buNone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ctr" defTabSz="914400">
              <a:lnSpc>
                <a:spcPct val="100000"/>
              </a:lnSpc>
              <a:spcBef>
                <a:spcPts val="1199"/>
              </a:spcBef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ctr" defTabSz="914400">
              <a:lnSpc>
                <a:spcPct val="100000"/>
              </a:lnSpc>
              <a:spcBef>
                <a:spcPts val="1199"/>
              </a:spcBef>
              <a:buFont typeface="Arial"/>
              <a:buNone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400">
              <a:lnSpc>
                <a:spcPct val="100000"/>
              </a:lnSpc>
              <a:spcBef>
                <a:spcPts val="1199"/>
              </a:spcBef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accent1"/>
              </a:buClr>
              <a:buFont typeface="Wingdings"/>
              <a:buNone/>
              <a:defRPr/>
            </a:pPr>
            <a:r>
              <a:rPr lang="en-US" sz="2800" b="1" i="0" u="none" strike="noStrike" cap="none" spc="29" dirty="0">
                <a:solidFill>
                  <a:srgbClr val="603636"/>
                </a:solidFill>
                <a:latin typeface="Times New Roman"/>
                <a:ea typeface="Times New Roman"/>
                <a:cs typeface="Times New Roman"/>
              </a:rPr>
              <a:t>Natural Language Processing and Text Mining</a:t>
            </a:r>
            <a:endParaRPr lang="en-US" sz="2800" b="0" i="0" u="none" strike="noStrike" cap="none" spc="29" dirty="0">
              <a:solidFill>
                <a:srgbClr val="603636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Clr>
                <a:schemeClr val="accent1"/>
              </a:buClr>
              <a:buFont typeface="Wingdings"/>
              <a:buNone/>
              <a:defRPr/>
            </a:pPr>
            <a:r>
              <a:rPr lang="en-US" sz="2800" b="0" i="0" u="none" strike="noStrike" cap="none" spc="29" dirty="0">
                <a:solidFill>
                  <a:srgbClr val="603636"/>
                </a:solidFill>
                <a:latin typeface="Times New Roman"/>
                <a:ea typeface="Times New Roman"/>
                <a:cs typeface="Times New Roman"/>
              </a:rPr>
              <a:t>Artificial Intelligence and Applied Computing</a:t>
            </a:r>
          </a:p>
          <a:p>
            <a:pPr marL="0" indent="0">
              <a:buClr>
                <a:schemeClr val="accent1"/>
              </a:buClr>
              <a:buFont typeface="Wingdings"/>
              <a:buNone/>
              <a:defRPr/>
            </a:pPr>
            <a:r>
              <a:rPr lang="en-US" sz="2800" b="0" i="0" u="none" strike="noStrike" cap="none" spc="29" dirty="0">
                <a:solidFill>
                  <a:srgbClr val="603636"/>
                </a:solidFill>
                <a:latin typeface="Times New Roman"/>
                <a:ea typeface="Times New Roman"/>
                <a:cs typeface="Times New Roman"/>
              </a:rPr>
              <a:t>University of Craiova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Project: Extractive Question Answering</a:t>
            </a:r>
          </a:p>
          <a:p>
            <a:r>
              <a:rPr dirty="0"/>
              <a:t>Using modern NLP technologies</a:t>
            </a:r>
          </a:p>
          <a:p>
            <a:r>
              <a:rPr dirty="0"/>
              <a:t>BERT + Hugging Face + </a:t>
            </a:r>
            <a:r>
              <a:rPr dirty="0" err="1"/>
              <a:t>spaCy</a:t>
            </a:r>
            <a:r>
              <a:rPr dirty="0"/>
              <a:t> + NLTK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Want To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Goal: Build a system that answers questions by extracting text spans</a:t>
            </a:r>
          </a:p>
          <a:p>
            <a:r>
              <a:t>Input: Context + Question</a:t>
            </a:r>
          </a:p>
          <a:p>
            <a:r>
              <a:t>Output: Exact answer from the 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Starting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Started from:</a:t>
            </a:r>
          </a:p>
          <a:p>
            <a:r>
              <a:t>- BERT architecture</a:t>
            </a:r>
          </a:p>
          <a:p>
            <a:r>
              <a:t>- Hugging Face tutorials</a:t>
            </a:r>
          </a:p>
          <a:p>
            <a:r>
              <a:t>- SQuAD dataset</a:t>
            </a:r>
          </a:p>
          <a:p>
            <a:r>
              <a:t>Based on standard QA pipelines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Reused Functionalities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Taken from existing sources:</a:t>
            </a:r>
          </a:p>
          <a:p>
            <a:r>
              <a:t>- BERT pre-trained models</a:t>
            </a:r>
          </a:p>
          <a:p>
            <a:r>
              <a:t>- Hugging Face tokenizers and Trainer</a:t>
            </a:r>
          </a:p>
          <a:p>
            <a:r>
              <a:t>- SQuAD dataset format</a:t>
            </a:r>
          </a:p>
          <a:p>
            <a:r>
              <a:t>- QA evaluation metrics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BERT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t>Bidirectional Transformer model</a:t>
            </a:r>
          </a:p>
          <a:p>
            <a:pPr>
              <a:defRPr/>
            </a:pPr>
            <a:r>
              <a:t>Understands left and right context</a:t>
            </a:r>
          </a:p>
          <a:p>
            <a:pPr>
              <a:defRPr/>
            </a:pPr>
            <a:r>
              <a:t>Fine-tuned for Question Answering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Hugging Face Transformers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t>Provides models like BERT</a:t>
            </a:r>
          </a:p>
          <a:p>
            <a:pPr>
              <a:defRPr/>
            </a:pPr>
            <a:r>
              <a:t>Tokenizers and pipelines</a:t>
            </a:r>
          </a:p>
          <a:p>
            <a:pPr>
              <a:defRPr/>
            </a:pPr>
            <a:r>
              <a:t>Training and inference tools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spaCy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t>Fast NLP library</a:t>
            </a:r>
          </a:p>
          <a:p>
            <a:pPr>
              <a:defRPr/>
            </a:pPr>
            <a:r>
              <a:t>Used for text cleaning</a:t>
            </a:r>
          </a:p>
          <a:p>
            <a:pPr>
              <a:defRPr/>
            </a:pPr>
            <a:r>
              <a:t>Keeps text positions intact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NLTK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t>Classic NLP toolkit</a:t>
            </a:r>
          </a:p>
          <a:p>
            <a:pPr>
              <a:defRPr/>
            </a:pPr>
            <a:r>
              <a:t>Sentence segmentation</a:t>
            </a:r>
          </a:p>
          <a:p>
            <a:pPr>
              <a:defRPr/>
            </a:pPr>
            <a:r>
              <a:t>Debugging and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scikit-learn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t>Machine learning utilities</a:t>
            </a:r>
          </a:p>
          <a:p>
            <a:pPr>
              <a:defRPr/>
            </a:pPr>
            <a:r>
              <a:t>Evaluation and metrics</a:t>
            </a:r>
          </a:p>
          <a:p>
            <a:pPr>
              <a:defRPr/>
            </a:pPr>
            <a:r>
              <a:t>Optional analysis tools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Datasets &amp; Evaluate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t>Hugging Face Datasets loads SQuAD</a:t>
            </a:r>
          </a:p>
          <a:p>
            <a:pPr>
              <a:defRPr/>
            </a:pPr>
            <a:r>
              <a:t>Evaluate computes EM and F1 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Steps:</a:t>
            </a:r>
          </a:p>
          <a:p>
            <a:r>
              <a:t>1. Install Python</a:t>
            </a:r>
          </a:p>
          <a:p>
            <a:r>
              <a:t>2. pip install transformers datasets evaluate spacy nltk scikit-learn torch</a:t>
            </a:r>
          </a:p>
          <a:p>
            <a:r>
              <a:t>3. python -m spacy download en_core_web_sm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Training mode:</a:t>
            </a:r>
          </a:p>
          <a:p>
            <a:r>
              <a:rPr dirty="0"/>
              <a:t>python </a:t>
            </a:r>
            <a:r>
              <a:rPr lang="en-US" dirty="0"/>
              <a:t>main</a:t>
            </a:r>
            <a:r>
              <a:rPr dirty="0"/>
              <a:t>.py train</a:t>
            </a:r>
          </a:p>
          <a:p>
            <a:endParaRPr dirty="0"/>
          </a:p>
          <a:p>
            <a:r>
              <a:rPr dirty="0"/>
              <a:t>Inference mode:</a:t>
            </a:r>
          </a:p>
          <a:p>
            <a:r>
              <a:rPr dirty="0"/>
              <a:t>python </a:t>
            </a:r>
            <a:r>
              <a:rPr lang="en-US" dirty="0"/>
              <a:t>main</a:t>
            </a:r>
            <a:r>
              <a:rPr dirty="0"/>
              <a:t>.py infer --question ... --context 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Added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We:</a:t>
            </a:r>
          </a:p>
          <a:p>
            <a:r>
              <a:t>- Built full pipeline (load → preprocess → train → evaluate)</a:t>
            </a:r>
          </a:p>
          <a:p>
            <a:r>
              <a:t>- Integrated spaCy + NLTK cleaning</a:t>
            </a:r>
          </a:p>
          <a:p>
            <a:r>
              <a:t>- Added inference mode</a:t>
            </a:r>
          </a:p>
          <a:p>
            <a:r>
              <a:t>- Structured project for easy use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Pipeline:</a:t>
            </a:r>
          </a:p>
          <a:p>
            <a:r>
              <a:t>1. Data Loading</a:t>
            </a:r>
          </a:p>
          <a:p>
            <a:r>
              <a:t>2. Preprocessing</a:t>
            </a:r>
          </a:p>
          <a:p>
            <a:r>
              <a:t>3. Model Training</a:t>
            </a:r>
          </a:p>
          <a:p>
            <a:r>
              <a:t>4. Evaluation</a:t>
            </a:r>
          </a:p>
          <a:p>
            <a:r>
              <a:t>5. Inference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Context: The book was written by Alice in 2019.</a:t>
            </a:r>
          </a:p>
          <a:p>
            <a:r>
              <a:rPr dirty="0"/>
              <a:t>Question: Who wrote the book?</a:t>
            </a:r>
          </a:p>
          <a:p>
            <a:endParaRPr dirty="0"/>
          </a:p>
          <a:p>
            <a:r>
              <a:rPr dirty="0"/>
              <a:t>Answer: Alice</a:t>
            </a:r>
          </a:p>
          <a:p>
            <a:r>
              <a:rPr dirty="0"/>
              <a:t>Score: 0.98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 trained on SQuAD</a:t>
            </a:r>
          </a:p>
          <a:p>
            <a:r>
              <a:t>Metrics:</a:t>
            </a:r>
          </a:p>
          <a:p>
            <a:r>
              <a:t>- Exact Match ≈ 70–80%</a:t>
            </a:r>
          </a:p>
          <a:p>
            <a:r>
              <a:t>- F1 ≈ 80–90%</a:t>
            </a:r>
          </a:p>
          <a:p>
            <a:r>
              <a:t>Conclusion: System works well for extractive QA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unchiere">
  <a:themeElements>
    <a:clrScheme name="Trunchiere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Trunchiere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Trunchier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Trunchiere</Template>
  <TotalTime>4</TotalTime>
  <Words>359</Words>
  <Application>Microsoft Office PowerPoint</Application>
  <PresentationFormat>Expunere pe ecran (4:3)</PresentationFormat>
  <Paragraphs>93</Paragraphs>
  <Slides>17</Slides>
  <Notes>7</Notes>
  <HiddenSlides>0</HiddenSlides>
  <MMClips>0</MMClips>
  <ScaleCrop>false</ScaleCrop>
  <HeadingPairs>
    <vt:vector size="6" baseType="variant">
      <vt:variant>
        <vt:lpstr>Fonturi utilizate</vt:lpstr>
      </vt:variant>
      <vt:variant>
        <vt:i4>4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17</vt:i4>
      </vt:variant>
    </vt:vector>
  </HeadingPairs>
  <TitlesOfParts>
    <vt:vector size="22" baseType="lpstr">
      <vt:lpstr>Calibri</vt:lpstr>
      <vt:lpstr>Franklin Gothic Book</vt:lpstr>
      <vt:lpstr>Times New Roman</vt:lpstr>
      <vt:lpstr>Wingdings</vt:lpstr>
      <vt:lpstr>Trunchiere</vt:lpstr>
      <vt:lpstr>QA System with BERT</vt:lpstr>
      <vt:lpstr>Introduction</vt:lpstr>
      <vt:lpstr>What We Want To Do</vt:lpstr>
      <vt:lpstr>Starting Point</vt:lpstr>
      <vt:lpstr>Reused Functionalities</vt:lpstr>
      <vt:lpstr>BERT</vt:lpstr>
      <vt:lpstr>Hugging Face Transformers</vt:lpstr>
      <vt:lpstr>spaCy</vt:lpstr>
      <vt:lpstr>NLTK</vt:lpstr>
      <vt:lpstr>scikit-learn</vt:lpstr>
      <vt:lpstr>Datasets &amp; Evaluate</vt:lpstr>
      <vt:lpstr>Installation</vt:lpstr>
      <vt:lpstr>How To Run</vt:lpstr>
      <vt:lpstr>Our Added Value</vt:lpstr>
      <vt:lpstr>Project Structure</vt:lpstr>
      <vt:lpstr>Example Run</vt:lpstr>
      <vt:lpstr>Results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Constantin Mădălin Popescu</cp:lastModifiedBy>
  <cp:revision>2</cp:revision>
  <dcterms:created xsi:type="dcterms:W3CDTF">2013-01-27T09:14:16Z</dcterms:created>
  <dcterms:modified xsi:type="dcterms:W3CDTF">2026-01-15T21:27:53Z</dcterms:modified>
  <cp:category/>
</cp:coreProperties>
</file>